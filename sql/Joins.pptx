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8" r:id="rId6"/>
    <p:sldId id="277" r:id="rId7"/>
    <p:sldId id="282" r:id="rId8"/>
    <p:sldId id="280" r:id="rId9"/>
    <p:sldId id="281" r:id="rId10"/>
    <p:sldId id="279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73C7-5D23-8C8F-E918-E226A8011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0845B-E05F-F705-1221-383834150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5E034-D3A1-51F9-A9E8-625D98E1B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049F4-9579-CA4C-4832-2DA3A370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051EB-92B6-D1D7-BB92-9ADCAD25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9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CE72-695F-4505-4C7B-3DC80BA2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1823B-4A3D-263C-3BF8-DBFCC96EF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57933-3201-8DC1-B932-D575FF6F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31776-C53C-7224-8123-B2A08E1D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C60DD-05A0-BCA8-9C89-EA256304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5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FA61-4236-0B5C-6534-F1156CA6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11825-6F31-CC55-FF2B-61B74F2F5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A66B-DD3E-8CB6-0090-D4F1C33F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1B782-2CA8-717E-E0EE-F6859956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0221B-B1F7-BC21-71B6-72FA8322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9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D211-65C8-EAC3-90CC-C8882C4B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7484-6647-D241-2F26-362742115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0E1F5-09C8-CC8B-BAE5-D40E4AA92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38DF9-322E-66B8-79C5-F5F51268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C1031-DA85-4441-6C77-060B1D87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A5CC0-1D36-446D-957F-5F666031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6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8CFF-61BA-17E8-761F-7440B7BD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D8DC1-827B-1E71-BAAD-63C36776A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D1B6-8B72-B784-D5D3-191D60233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C0416-F9D8-FF83-43BB-99B5C2F36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2DE70-FF96-A210-4A77-C3AC7BE98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58339-A08E-7511-ACB4-578549BC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BA6032-C3C0-856C-1211-310733CA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E2A1D-D48C-C38D-1382-1C8ECFD9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1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8FF9-C160-C54E-BFA3-310464B3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61318-2198-F785-6167-3A8BFE21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8A6BC-2832-A310-89C4-13CA42BA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7378D-CD86-7C17-690A-FF11FD1F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7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81ED6-443C-45EB-82A3-338BEDA9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480A92-33CB-50CD-D9E6-05B907A2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07FFE-8ADF-DE2E-48D1-0695DF319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7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30E5F-73FC-CDBD-6F06-B4F65AE7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A1B23-3D0C-F69B-531F-B1782F55C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6C1F2-4C35-80CC-23C3-DE932069D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DD762-652D-6F3B-6035-4EAF05F5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8222C-5162-261D-1885-37799186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49011-690D-433F-B5ED-8F25DD28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76F5-6F43-E5AF-0534-3F918E4F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AC58FF-9321-C04B-7B43-1F4744C6B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0F72C-DF1D-BF9B-CE07-F643EA27E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267BF-78FE-5E87-16F1-9DF6CEEA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A059C-07FF-4710-28C3-A5ECD4B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A3C5-58DC-8B58-17B4-651F5217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0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943D-5CFF-3E2F-74C4-6555F5174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51B33-254D-0720-9B8C-D79610C53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5E9F1-BFF8-7728-49E3-F2023C41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9DA48-1A4D-B06E-D1C0-68A9C5A4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DF2E8-554F-92F7-55C4-059210A8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4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F1E1AF-86CC-10EA-00E2-C1D5E379D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7606F-F298-F9F1-D989-7E3839109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D9E4-4538-7D85-2835-C32A0DB6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187A8-2D4F-20CE-CEC1-39E6DC89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7339E-662A-094E-ECDA-2A8E7958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4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9D011-F94D-4592-F07A-61D3003C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2FBEE-E1F4-DBAB-7973-D75F7019A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1B64-25DF-6432-20F5-E9429EF84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59C0E-4E68-43E1-9807-68F494FD89F5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CA19F-593A-11BC-8B83-A281E06B2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08396-1F4F-E18B-B849-0F653B07A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8405F-37D7-4A10-84C9-B0E1BAD1F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9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www.geeksforgeeks.org/sql/sql-inner-join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sneha@gmail.com" TargetMode="External"/><Relationship Id="rId13" Type="http://schemas.openxmlformats.org/officeDocument/2006/relationships/hyperlink" Target="mailto:rohit@gmail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amit@gmail.com" TargetMode="External"/><Relationship Id="rId12" Type="http://schemas.openxmlformats.org/officeDocument/2006/relationships/hyperlink" Target="mailto:anjali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priya@gmail.com" TargetMode="External"/><Relationship Id="rId11" Type="http://schemas.openxmlformats.org/officeDocument/2006/relationships/hyperlink" Target="mailto:vikas@gmail.com" TargetMode="External"/><Relationship Id="rId5" Type="http://schemas.openxmlformats.org/officeDocument/2006/relationships/hyperlink" Target="mailto:rahul@gmail.com" TargetMode="External"/><Relationship Id="rId10" Type="http://schemas.openxmlformats.org/officeDocument/2006/relationships/hyperlink" Target="mailto:neha@gmail.com" TargetMode="External"/><Relationship Id="rId4" Type="http://schemas.openxmlformats.org/officeDocument/2006/relationships/image" Target="../media/image3.png"/><Relationship Id="rId9" Type="http://schemas.openxmlformats.org/officeDocument/2006/relationships/hyperlink" Target="mailto:karan@gmail.com" TargetMode="External"/><Relationship Id="rId14" Type="http://schemas.openxmlformats.org/officeDocument/2006/relationships/hyperlink" Target="mailto:meera@gmail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mailto:karan@gmail.com" TargetMode="External"/><Relationship Id="rId13" Type="http://schemas.openxmlformats.org/officeDocument/2006/relationships/hyperlink" Target="mailto:meera@gmail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sneha@gmail.com" TargetMode="External"/><Relationship Id="rId12" Type="http://schemas.openxmlformats.org/officeDocument/2006/relationships/hyperlink" Target="mailto:rohit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mit@gmail.com" TargetMode="External"/><Relationship Id="rId11" Type="http://schemas.openxmlformats.org/officeDocument/2006/relationships/hyperlink" Target="mailto:anjali@gmail.com" TargetMode="External"/><Relationship Id="rId5" Type="http://schemas.openxmlformats.org/officeDocument/2006/relationships/hyperlink" Target="mailto:priya@gmail.com" TargetMode="External"/><Relationship Id="rId10" Type="http://schemas.openxmlformats.org/officeDocument/2006/relationships/hyperlink" Target="mailto:vikas@gmail.com" TargetMode="External"/><Relationship Id="rId4" Type="http://schemas.openxmlformats.org/officeDocument/2006/relationships/hyperlink" Target="mailto:rahul@gmail.com" TargetMode="External"/><Relationship Id="rId9" Type="http://schemas.openxmlformats.org/officeDocument/2006/relationships/hyperlink" Target="mailto:neha@gmail.com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mailto:karan@gmail.com" TargetMode="External"/><Relationship Id="rId13" Type="http://schemas.openxmlformats.org/officeDocument/2006/relationships/hyperlink" Target="mailto:meera@gmail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sneha@gmail.com" TargetMode="External"/><Relationship Id="rId12" Type="http://schemas.openxmlformats.org/officeDocument/2006/relationships/hyperlink" Target="mailto:rohit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mit@gmail.com" TargetMode="External"/><Relationship Id="rId11" Type="http://schemas.openxmlformats.org/officeDocument/2006/relationships/hyperlink" Target="mailto:anjali@gmail.com" TargetMode="External"/><Relationship Id="rId5" Type="http://schemas.openxmlformats.org/officeDocument/2006/relationships/hyperlink" Target="mailto:priya@gmail.com" TargetMode="External"/><Relationship Id="rId10" Type="http://schemas.openxmlformats.org/officeDocument/2006/relationships/hyperlink" Target="mailto:vikas@gmail.com" TargetMode="External"/><Relationship Id="rId4" Type="http://schemas.openxmlformats.org/officeDocument/2006/relationships/hyperlink" Target="mailto:rahul@gmail.com" TargetMode="External"/><Relationship Id="rId9" Type="http://schemas.openxmlformats.org/officeDocument/2006/relationships/hyperlink" Target="mailto:neha@gmail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mailto:karan@gmail.com" TargetMode="External"/><Relationship Id="rId13" Type="http://schemas.openxmlformats.org/officeDocument/2006/relationships/hyperlink" Target="mailto:meera@gmail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sneha@gmail.com" TargetMode="External"/><Relationship Id="rId12" Type="http://schemas.openxmlformats.org/officeDocument/2006/relationships/hyperlink" Target="mailto:rohit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mit@gmail.com" TargetMode="External"/><Relationship Id="rId11" Type="http://schemas.openxmlformats.org/officeDocument/2006/relationships/hyperlink" Target="mailto:anjali@gmail.com" TargetMode="External"/><Relationship Id="rId5" Type="http://schemas.openxmlformats.org/officeDocument/2006/relationships/hyperlink" Target="mailto:priya@gmail.com" TargetMode="External"/><Relationship Id="rId10" Type="http://schemas.openxmlformats.org/officeDocument/2006/relationships/hyperlink" Target="mailto:vikas@gmail.com" TargetMode="External"/><Relationship Id="rId4" Type="http://schemas.openxmlformats.org/officeDocument/2006/relationships/hyperlink" Target="mailto:rahul@gmail.com" TargetMode="External"/><Relationship Id="rId9" Type="http://schemas.openxmlformats.org/officeDocument/2006/relationships/hyperlink" Target="mailto:neha@gmail.com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mailto:karan@gmail.com" TargetMode="External"/><Relationship Id="rId13" Type="http://schemas.openxmlformats.org/officeDocument/2006/relationships/hyperlink" Target="mailto:meera@gmail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sneha@gmail.com" TargetMode="External"/><Relationship Id="rId12" Type="http://schemas.openxmlformats.org/officeDocument/2006/relationships/hyperlink" Target="mailto:rohit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mit@gmail.com" TargetMode="External"/><Relationship Id="rId11" Type="http://schemas.openxmlformats.org/officeDocument/2006/relationships/hyperlink" Target="mailto:anjali@gmail.com" TargetMode="External"/><Relationship Id="rId5" Type="http://schemas.openxmlformats.org/officeDocument/2006/relationships/hyperlink" Target="mailto:priya@gmail.com" TargetMode="External"/><Relationship Id="rId10" Type="http://schemas.openxmlformats.org/officeDocument/2006/relationships/hyperlink" Target="mailto:vikas@gmail.com" TargetMode="External"/><Relationship Id="rId4" Type="http://schemas.openxmlformats.org/officeDocument/2006/relationships/hyperlink" Target="mailto:rahul@gmail.com" TargetMode="External"/><Relationship Id="rId9" Type="http://schemas.openxmlformats.org/officeDocument/2006/relationships/hyperlink" Target="mailto:neha@gmail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mailto:karan@gmail.com" TargetMode="External"/><Relationship Id="rId13" Type="http://schemas.openxmlformats.org/officeDocument/2006/relationships/hyperlink" Target="mailto:meera@gmail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sneha@gmail.com" TargetMode="External"/><Relationship Id="rId12" Type="http://schemas.openxmlformats.org/officeDocument/2006/relationships/hyperlink" Target="mailto:rohit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mit@gmail.com" TargetMode="External"/><Relationship Id="rId11" Type="http://schemas.openxmlformats.org/officeDocument/2006/relationships/hyperlink" Target="mailto:anjali@gmail.com" TargetMode="External"/><Relationship Id="rId5" Type="http://schemas.openxmlformats.org/officeDocument/2006/relationships/hyperlink" Target="mailto:priya@gmail.com" TargetMode="External"/><Relationship Id="rId10" Type="http://schemas.openxmlformats.org/officeDocument/2006/relationships/hyperlink" Target="mailto:vikas@gmail.com" TargetMode="External"/><Relationship Id="rId4" Type="http://schemas.openxmlformats.org/officeDocument/2006/relationships/hyperlink" Target="mailto:rahul@gmail.com" TargetMode="External"/><Relationship Id="rId9" Type="http://schemas.openxmlformats.org/officeDocument/2006/relationships/hyperlink" Target="mailto:neha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671E8-3786-267C-91A4-A2F1085D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79056B-131B-FBCE-9F88-9EF1651A7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892054-C16F-9C83-8BCB-8FAC7708A87F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E24CF2-2118-8338-15F2-AF3AA0E570B1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Joins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B85C21-C645-8A90-AE3B-0C6D482F3D7B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D63C3377-F99D-AA41-C9F7-BFD712BC8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6EA6C0-BA51-EE7C-72B6-805DC89EFA4B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7BC694-AB23-C90E-9DCA-EFC32F1B9F32}"/>
              </a:ext>
            </a:extLst>
          </p:cNvPr>
          <p:cNvSpPr txBox="1"/>
          <p:nvPr/>
        </p:nvSpPr>
        <p:spPr>
          <a:xfrm>
            <a:off x="237744" y="1548969"/>
            <a:ext cx="100675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chemeClr val="bg1"/>
                </a:solidFill>
              </a:rPr>
              <a:t>“If data is split across tables, how do we combine it to answer business questions?”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 = JOINS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JOIN</a:t>
            </a:r>
            <a:r>
              <a:rPr lang="en-US" dirty="0">
                <a:solidFill>
                  <a:schemeClr val="bg1"/>
                </a:solidFill>
              </a:rPr>
              <a:t> is used to </a:t>
            </a:r>
            <a:r>
              <a:rPr lang="en-US" b="1" dirty="0">
                <a:solidFill>
                  <a:schemeClr val="bg1"/>
                </a:solidFill>
              </a:rPr>
              <a:t>combine rows from two or more tables</a:t>
            </a:r>
            <a:r>
              <a:rPr lang="en-US" dirty="0">
                <a:solidFill>
                  <a:schemeClr val="bg1"/>
                </a:solidFill>
              </a:rPr>
              <a:t> based on a related column (usually a key).</a:t>
            </a:r>
          </a:p>
          <a:p>
            <a:pPr lvl="2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Join = connect tables using a common column</a:t>
            </a:r>
          </a:p>
          <a:p>
            <a:pPr lvl="2"/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SQL Joins are used to combine rows from two or more tables based on a related column between them. They help in retrieving connected data stored across multiple tables.</a:t>
            </a: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0" lvl="2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38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4AC7A-3A7A-2E99-9B64-8515E608B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952255-D3D0-01FE-9C6F-0DD6482BF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16E684-3C3C-939E-5793-907E227C6101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16CB2-A801-BD89-1499-19ED135D54F6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Inner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9B7479-A397-F924-F662-BB5892BDC532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A1510EC0-6754-019D-06D1-BF599B5CF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0FF54B-2063-11F6-076E-4F918C3DBF1A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F2645E-E25B-419B-A593-E2A7889724BF}"/>
              </a:ext>
            </a:extLst>
          </p:cNvPr>
          <p:cNvSpPr txBox="1"/>
          <p:nvPr/>
        </p:nvSpPr>
        <p:spPr>
          <a:xfrm>
            <a:off x="109991" y="1612977"/>
            <a:ext cx="67482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The </a:t>
            </a:r>
            <a:r>
              <a:rPr lang="en-US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INNER JOIN</a:t>
            </a:r>
            <a:r>
              <a:rPr lang="en-US" dirty="0">
                <a:solidFill>
                  <a:schemeClr val="bg1"/>
                </a:solidFill>
              </a:rPr>
              <a:t> in SQL returns only the rows where there is a matching value in both tables. It combines records based on a related column and excludes non-matching rows.</a:t>
            </a:r>
          </a:p>
          <a:p>
            <a:pPr lvl="2"/>
            <a:endParaRPr lang="en-US" dirty="0"/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Simple words:</a:t>
            </a:r>
          </a:p>
          <a:p>
            <a:pPr lvl="2"/>
            <a:r>
              <a:rPr lang="en-US" dirty="0">
                <a:solidFill>
                  <a:srgbClr val="FFC000"/>
                </a:solidFill>
              </a:rPr>
              <a:t>If match exists → show row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If match does NOT exist → ignore row</a:t>
            </a:r>
          </a:p>
          <a:p>
            <a:pPr lvl="2"/>
            <a:endParaRPr lang="en-US" dirty="0">
              <a:solidFill>
                <a:srgbClr val="FFC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Think like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Intersection of two tables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SELECT columns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FROM table1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INNER JOIN table2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ON table1.common_column = table2.common_column;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98BEF6-8C87-5FAC-0A1D-1F736B78D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263" y="2055246"/>
            <a:ext cx="4784666" cy="318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8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C9409-52D6-CBCC-01A3-50BFEDB1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BCAEBE-B84A-0782-D791-5C2F62AFB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E8390F-7699-9C5D-BCA1-1725A448719D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995BE-D516-A85E-25F8-5F1FBC03EBE3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Inner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A31D06-08AB-7E98-F08D-B2190A4D60D8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EE75711D-4FAB-812C-F02E-7CEEBF3B5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E1374-E4BB-E7A2-2108-29B18889A823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C31474E-D103-73D9-2B04-4DC8536B1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525" y="620816"/>
            <a:ext cx="1660364" cy="110690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8111F4-C43E-6D5D-0918-9585225BA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990125"/>
              </p:ext>
            </p:extLst>
          </p:nvPr>
        </p:nvGraphicFramePr>
        <p:xfrm>
          <a:off x="237744" y="2308497"/>
          <a:ext cx="5047867" cy="344752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87552">
                  <a:extLst>
                    <a:ext uri="{9D8B030D-6E8A-4147-A177-3AD203B41FA5}">
                      <a16:colId xmlns:a16="http://schemas.microsoft.com/office/drawing/2014/main" val="428209164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422310448"/>
                    </a:ext>
                  </a:extLst>
                </a:gridCol>
                <a:gridCol w="868866">
                  <a:extLst>
                    <a:ext uri="{9D8B030D-6E8A-4147-A177-3AD203B41FA5}">
                      <a16:colId xmlns:a16="http://schemas.microsoft.com/office/drawing/2014/main" val="314454884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872554432"/>
                    </a:ext>
                  </a:extLst>
                </a:gridCol>
                <a:gridCol w="1033465">
                  <a:extLst>
                    <a:ext uri="{9D8B030D-6E8A-4147-A177-3AD203B41FA5}">
                      <a16:colId xmlns:a16="http://schemas.microsoft.com/office/drawing/2014/main" val="4276547184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customer_id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customer_name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46206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5"/>
                        </a:rPr>
                        <a:t>rahul@gmail.com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0518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6"/>
                        </a:rPr>
                        <a:t>priya@gmail.com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9000022222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417755"/>
                  </a:ext>
                </a:extLst>
              </a:tr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7"/>
                        </a:rPr>
                        <a:t>amit@gmail.com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9000033333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2258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8"/>
                        </a:rPr>
                        <a:t>sneha@gmail.com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9000044444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8436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9"/>
                        </a:rPr>
                        <a:t>karan@gmail.com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9000055555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58858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0"/>
                        </a:rPr>
                        <a:t>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9000066666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1707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Vikas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1"/>
                        </a:rPr>
                        <a:t>vikas@gmail.com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9000077777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027525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Anjali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2"/>
                        </a:rPr>
                        <a:t>anjali@gmail.com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9000088888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020801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3"/>
                        </a:rPr>
                        <a:t>rohit@gmail.com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9000099999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06133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4"/>
                        </a:rPr>
                        <a:t>meera@gmail.com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9000012121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9419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324B237-BD9E-1A7D-0451-0290F870E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643316"/>
              </p:ext>
            </p:extLst>
          </p:nvPr>
        </p:nvGraphicFramePr>
        <p:xfrm>
          <a:off x="6007608" y="1622497"/>
          <a:ext cx="5526024" cy="435133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21004">
                  <a:extLst>
                    <a:ext uri="{9D8B030D-6E8A-4147-A177-3AD203B41FA5}">
                      <a16:colId xmlns:a16="http://schemas.microsoft.com/office/drawing/2014/main" val="110905178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4185027422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3464430332"/>
                    </a:ext>
                  </a:extLst>
                </a:gridCol>
                <a:gridCol w="976884">
                  <a:extLst>
                    <a:ext uri="{9D8B030D-6E8A-4147-A177-3AD203B41FA5}">
                      <a16:colId xmlns:a16="http://schemas.microsoft.com/office/drawing/2014/main" val="1000129026"/>
                    </a:ext>
                  </a:extLst>
                </a:gridCol>
                <a:gridCol w="865124">
                  <a:extLst>
                    <a:ext uri="{9D8B030D-6E8A-4147-A177-3AD203B41FA5}">
                      <a16:colId xmlns:a16="http://schemas.microsoft.com/office/drawing/2014/main" val="422111774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1049067606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customer_id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product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quantity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sales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2929095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Laptop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5623640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Mouse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761998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Keyboard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873678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Monitor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12940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Tablet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5906104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Mobile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18000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2561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Charger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46872616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Headphones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4575133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Camera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917582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Printer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1023087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124843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9577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SSD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589415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94373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32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01D71-BED3-7B23-4984-E43A9B36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BD7D2B-95E9-D98A-1C61-5902FF9E8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3F4436-2C18-914B-3412-50F6C385A7A8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BE7DD-AD60-EBCB-F0D4-807525C93D0D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Left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FB66C8-EAD6-8FF8-7256-B5AEA337D215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D9DB210C-E7EB-E34D-DE99-B09E790FD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4DBEA8-E7B5-52B2-D1E7-D48BC8B170A7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0F8056-0D33-654D-3FC3-028DC30DBFA1}"/>
              </a:ext>
            </a:extLst>
          </p:cNvPr>
          <p:cNvSpPr txBox="1"/>
          <p:nvPr/>
        </p:nvSpPr>
        <p:spPr>
          <a:xfrm>
            <a:off x="109991" y="1612977"/>
            <a:ext cx="674827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LEFT JOIN returns ALL records from the LEFT table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b="1" dirty="0">
                <a:solidFill>
                  <a:schemeClr val="bg1"/>
                </a:solidFill>
              </a:rPr>
              <a:t>only matching records from the RIGHT table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If no match is found in the right table, </a:t>
            </a:r>
            <a:r>
              <a:rPr lang="en-US" b="1" dirty="0">
                <a:solidFill>
                  <a:schemeClr val="bg1"/>
                </a:solidFill>
              </a:rPr>
              <a:t>NULL values are returned</a:t>
            </a:r>
            <a:r>
              <a:rPr lang="en-US" dirty="0">
                <a:solidFill>
                  <a:schemeClr val="bg1"/>
                </a:solidFill>
              </a:rPr>
              <a:t> for the right table columns.</a:t>
            </a:r>
          </a:p>
          <a:p>
            <a:endParaRPr lang="en-US" dirty="0"/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Simple words: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solidFill>
                  <a:srgbClr val="FFFF00"/>
                </a:solidFill>
              </a:rPr>
              <a:t>Left table → ALWAYS included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solidFill>
                  <a:srgbClr val="FFFF00"/>
                </a:solidFill>
              </a:rPr>
              <a:t>Right table → only if match exists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solidFill>
                  <a:srgbClr val="FFFF00"/>
                </a:solidFill>
              </a:rPr>
              <a:t>No match → NULL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SELECT columns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FROM table1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LEFT JOIN table2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ON table1.common_column = table2.common_column;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4CFE59-5DF2-E335-B305-275D0BE66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48" y="2059432"/>
            <a:ext cx="4756404" cy="317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4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96133-700F-A4CA-7232-6B99E313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966757-81F6-8DAB-A27B-E55E3E604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7A0C26-E80B-DB4C-8107-EBF329CFD227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FAC1C-6727-010B-A8ED-FBEDDA3C23F9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Left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6E010-32E9-0F55-46EB-B9502B7EE0D2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D9D07BEF-5429-72B0-B6A3-51E17EACC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456614-14FE-75F9-9A38-9609CCF48644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3C1B71-1B16-7B76-85CA-9B21DD817DBC}"/>
              </a:ext>
            </a:extLst>
          </p:cNvPr>
          <p:cNvGraphicFramePr>
            <a:graphicFrameLocks noGrp="1"/>
          </p:cNvGraphicFramePr>
          <p:nvPr/>
        </p:nvGraphicFramePr>
        <p:xfrm>
          <a:off x="237744" y="2308497"/>
          <a:ext cx="5047867" cy="344752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87552">
                  <a:extLst>
                    <a:ext uri="{9D8B030D-6E8A-4147-A177-3AD203B41FA5}">
                      <a16:colId xmlns:a16="http://schemas.microsoft.com/office/drawing/2014/main" val="428209164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422310448"/>
                    </a:ext>
                  </a:extLst>
                </a:gridCol>
                <a:gridCol w="868866">
                  <a:extLst>
                    <a:ext uri="{9D8B030D-6E8A-4147-A177-3AD203B41FA5}">
                      <a16:colId xmlns:a16="http://schemas.microsoft.com/office/drawing/2014/main" val="314454884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872554432"/>
                    </a:ext>
                  </a:extLst>
                </a:gridCol>
                <a:gridCol w="1033465">
                  <a:extLst>
                    <a:ext uri="{9D8B030D-6E8A-4147-A177-3AD203B41FA5}">
                      <a16:colId xmlns:a16="http://schemas.microsoft.com/office/drawing/2014/main" val="4276547184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customer_id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customer_name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46206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4"/>
                        </a:rPr>
                        <a:t>rahul@gmail.com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0518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5"/>
                        </a:rPr>
                        <a:t>priya@gmail.com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9000022222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417755"/>
                  </a:ext>
                </a:extLst>
              </a:tr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6"/>
                        </a:rPr>
                        <a:t>amit@gmail.com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9000033333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2258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7"/>
                        </a:rPr>
                        <a:t>sneha@gmail.com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9000044444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8436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8"/>
                        </a:rPr>
                        <a:t>karan@gmail.com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9000055555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58858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9"/>
                        </a:rPr>
                        <a:t>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9000066666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1707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Vikas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0"/>
                        </a:rPr>
                        <a:t>vikas@gmail.com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9000077777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027525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Anjali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1"/>
                        </a:rPr>
                        <a:t>anjali@gmail.com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9000088888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020801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2"/>
                        </a:rPr>
                        <a:t>rohit@gmail.com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9000099999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06133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3"/>
                        </a:rPr>
                        <a:t>meera@gmail.com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9000012121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9419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58FB17C-652C-E6D1-8BD8-B91E0F29C524}"/>
              </a:ext>
            </a:extLst>
          </p:cNvPr>
          <p:cNvGraphicFramePr>
            <a:graphicFrameLocks noGrp="1"/>
          </p:cNvGraphicFramePr>
          <p:nvPr/>
        </p:nvGraphicFramePr>
        <p:xfrm>
          <a:off x="6007608" y="1622497"/>
          <a:ext cx="5526024" cy="435133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21004">
                  <a:extLst>
                    <a:ext uri="{9D8B030D-6E8A-4147-A177-3AD203B41FA5}">
                      <a16:colId xmlns:a16="http://schemas.microsoft.com/office/drawing/2014/main" val="110905178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4185027422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3464430332"/>
                    </a:ext>
                  </a:extLst>
                </a:gridCol>
                <a:gridCol w="976884">
                  <a:extLst>
                    <a:ext uri="{9D8B030D-6E8A-4147-A177-3AD203B41FA5}">
                      <a16:colId xmlns:a16="http://schemas.microsoft.com/office/drawing/2014/main" val="1000129026"/>
                    </a:ext>
                  </a:extLst>
                </a:gridCol>
                <a:gridCol w="865124">
                  <a:extLst>
                    <a:ext uri="{9D8B030D-6E8A-4147-A177-3AD203B41FA5}">
                      <a16:colId xmlns:a16="http://schemas.microsoft.com/office/drawing/2014/main" val="422111774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1049067606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customer_id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product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quantity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sales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2929095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Laptop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5623640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Mouse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761998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Keyboard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873678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Monitor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12940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Tablet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5906104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Mobile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18000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2561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Charger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46872616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Headphones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4575133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Camera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917582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Printer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1023087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124843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9577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SSD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589415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943738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924865-8415-698C-A203-4B81DE9446DB}"/>
              </a:ext>
            </a:extLst>
          </p:cNvPr>
          <p:cNvSpPr txBox="1"/>
          <p:nvPr/>
        </p:nvSpPr>
        <p:spPr>
          <a:xfrm>
            <a:off x="904877" y="1876406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LEFT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F4925-06D7-6718-A580-E4811DE71E61}"/>
              </a:ext>
            </a:extLst>
          </p:cNvPr>
          <p:cNvSpPr txBox="1"/>
          <p:nvPr/>
        </p:nvSpPr>
        <p:spPr>
          <a:xfrm>
            <a:off x="7114031" y="1248886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RIGHT TABLE</a:t>
            </a:r>
          </a:p>
        </p:txBody>
      </p:sp>
    </p:spTree>
    <p:extLst>
      <p:ext uri="{BB962C8B-B14F-4D97-AF65-F5344CB8AC3E}">
        <p14:creationId xmlns:p14="http://schemas.microsoft.com/office/powerpoint/2010/main" val="162448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7F5B6-5824-E57C-63BA-F9D17F91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F543F-2FEC-0397-8E2A-06A68E243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9CFC0-1C7F-B03A-24F6-5BF00D7CBAF6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20A8E-41B4-953E-FF92-71650DCA4ECD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Left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1DE504-B8C9-CE52-B38E-270C2E3085AC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D77082B0-39E6-9390-97C8-8DDCBD943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1CC531-66AF-7349-23EF-339F5E7DF4C1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9F187F-90BB-73E2-7EEE-C3A26F010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670585"/>
              </p:ext>
            </p:extLst>
          </p:nvPr>
        </p:nvGraphicFramePr>
        <p:xfrm>
          <a:off x="6726662" y="2161203"/>
          <a:ext cx="5047867" cy="344752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87552">
                  <a:extLst>
                    <a:ext uri="{9D8B030D-6E8A-4147-A177-3AD203B41FA5}">
                      <a16:colId xmlns:a16="http://schemas.microsoft.com/office/drawing/2014/main" val="428209164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422310448"/>
                    </a:ext>
                  </a:extLst>
                </a:gridCol>
                <a:gridCol w="868866">
                  <a:extLst>
                    <a:ext uri="{9D8B030D-6E8A-4147-A177-3AD203B41FA5}">
                      <a16:colId xmlns:a16="http://schemas.microsoft.com/office/drawing/2014/main" val="314454884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872554432"/>
                    </a:ext>
                  </a:extLst>
                </a:gridCol>
                <a:gridCol w="1033465">
                  <a:extLst>
                    <a:ext uri="{9D8B030D-6E8A-4147-A177-3AD203B41FA5}">
                      <a16:colId xmlns:a16="http://schemas.microsoft.com/office/drawing/2014/main" val="4276547184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customer_id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customer_name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46206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4"/>
                        </a:rPr>
                        <a:t>rahul@gmail.com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0518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5"/>
                        </a:rPr>
                        <a:t>priya@gmail.com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9000022222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417755"/>
                  </a:ext>
                </a:extLst>
              </a:tr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6"/>
                        </a:rPr>
                        <a:t>amit@gmail.com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9000033333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2258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7"/>
                        </a:rPr>
                        <a:t>sneha@gmail.com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9000044444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8436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8"/>
                        </a:rPr>
                        <a:t>karan@gmail.com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9000055555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58858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9"/>
                        </a:rPr>
                        <a:t>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9000066666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1707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Vikas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0"/>
                        </a:rPr>
                        <a:t>vikas@gmail.com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9000077777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027525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Anjali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1"/>
                        </a:rPr>
                        <a:t>anjali@gmail.com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9000088888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020801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2"/>
                        </a:rPr>
                        <a:t>rohit@gmail.com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9000099999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06133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3"/>
                        </a:rPr>
                        <a:t>meera@gmail.com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9000012121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9419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01F4AD-77B9-7C16-E79F-3A257F291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383728"/>
              </p:ext>
            </p:extLst>
          </p:nvPr>
        </p:nvGraphicFramePr>
        <p:xfrm>
          <a:off x="420624" y="1709296"/>
          <a:ext cx="5526024" cy="435133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21004">
                  <a:extLst>
                    <a:ext uri="{9D8B030D-6E8A-4147-A177-3AD203B41FA5}">
                      <a16:colId xmlns:a16="http://schemas.microsoft.com/office/drawing/2014/main" val="110905178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4185027422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3464430332"/>
                    </a:ext>
                  </a:extLst>
                </a:gridCol>
                <a:gridCol w="976884">
                  <a:extLst>
                    <a:ext uri="{9D8B030D-6E8A-4147-A177-3AD203B41FA5}">
                      <a16:colId xmlns:a16="http://schemas.microsoft.com/office/drawing/2014/main" val="1000129026"/>
                    </a:ext>
                  </a:extLst>
                </a:gridCol>
                <a:gridCol w="865124">
                  <a:extLst>
                    <a:ext uri="{9D8B030D-6E8A-4147-A177-3AD203B41FA5}">
                      <a16:colId xmlns:a16="http://schemas.microsoft.com/office/drawing/2014/main" val="422111774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1049067606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customer_id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product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quantity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sales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2929095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Laptop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5623640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Mouse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761998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Keyboard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873678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Monitor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12940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Tablet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5906104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Mobile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18000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2561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Charger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46872616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Headphones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4575133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Camera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917582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Printer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1023087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124843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9577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SSD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589415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943738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8947C2-82A3-6D01-6D12-44E14D9D4200}"/>
              </a:ext>
            </a:extLst>
          </p:cNvPr>
          <p:cNvSpPr txBox="1"/>
          <p:nvPr/>
        </p:nvSpPr>
        <p:spPr>
          <a:xfrm>
            <a:off x="1330342" y="1348883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LEFT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FCE0F-964C-9124-CDF4-D7B7DB2E5D0A}"/>
              </a:ext>
            </a:extLst>
          </p:cNvPr>
          <p:cNvSpPr txBox="1"/>
          <p:nvPr/>
        </p:nvSpPr>
        <p:spPr>
          <a:xfrm>
            <a:off x="7594006" y="1709296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RIGHT TABLE</a:t>
            </a:r>
          </a:p>
        </p:txBody>
      </p:sp>
    </p:spTree>
    <p:extLst>
      <p:ext uri="{BB962C8B-B14F-4D97-AF65-F5344CB8AC3E}">
        <p14:creationId xmlns:p14="http://schemas.microsoft.com/office/powerpoint/2010/main" val="2342600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E98F-A816-0140-987D-E216426B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E4AF3F-BE6A-1A85-0CBA-19D924CD5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591367-E943-0561-445C-66B84A7D84C7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1D03C7-71A9-FA46-7761-B9C9FCDF532D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Right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9B5CE-5FDF-6AA0-9B79-B5B4004F7201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E5E0A0FA-8C15-69D8-6324-DCAE57953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99DE1-AFAE-EA91-DB20-8B787BD7F748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CDA17C-60B9-29C6-0530-34FD4D964B65}"/>
              </a:ext>
            </a:extLst>
          </p:cNvPr>
          <p:cNvSpPr txBox="1"/>
          <p:nvPr/>
        </p:nvSpPr>
        <p:spPr>
          <a:xfrm>
            <a:off x="109991" y="1612977"/>
            <a:ext cx="674827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RIGHT JOIN returns all rows from the RIGHT table</a:t>
            </a:r>
            <a:r>
              <a:rPr lang="en-US" dirty="0">
                <a:solidFill>
                  <a:schemeClr val="bg1"/>
                </a:solidFill>
              </a:rPr>
              <a:t>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b="1" dirty="0">
                <a:solidFill>
                  <a:schemeClr val="bg1"/>
                </a:solidFill>
              </a:rPr>
              <a:t>only matching rows from the LEFT table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If no match is found in the left table, </a:t>
            </a:r>
            <a:r>
              <a:rPr lang="en-US" b="1" dirty="0">
                <a:solidFill>
                  <a:schemeClr val="bg1"/>
                </a:solidFill>
              </a:rPr>
              <a:t>NULL values are returned</a:t>
            </a:r>
            <a:r>
              <a:rPr lang="en-US" dirty="0">
                <a:solidFill>
                  <a:schemeClr val="bg1"/>
                </a:solidFill>
              </a:rPr>
              <a:t> for the left table columns.</a:t>
            </a:r>
          </a:p>
          <a:p>
            <a:endParaRPr lang="en-US" dirty="0"/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Simple words: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solidFill>
                  <a:srgbClr val="FFFF00"/>
                </a:solidFill>
              </a:rPr>
              <a:t>Right table → ALWAYS included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solidFill>
                  <a:srgbClr val="FFFF00"/>
                </a:solidFill>
              </a:rPr>
              <a:t>Left table → only if match exists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solidFill>
                  <a:srgbClr val="FFFF00"/>
                </a:solidFill>
              </a:rPr>
              <a:t>No match → NULL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SELECT columns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FROM table1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RIGHT JOIN table2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ON table1.common_column = table2.common_column;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67F56D-7A8F-80BF-F3EF-76C8A376F7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06" y="1883367"/>
            <a:ext cx="4786310" cy="319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09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7BEF8-B15C-54ED-FE87-17C50189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93B6C7-0035-9858-A8AE-4B52A0E54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AFF6E-A238-2A67-DBE6-852F90AC8141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D65BC4-4DAC-98E0-2A3F-3DF56CC44F8E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Right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F7FBD-A73A-6B3D-922C-16F5DDEB5765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E4FF28FA-45DA-D1AD-612D-43964910A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98B853-ADEF-37B0-29A5-6B7EB1AFD1D0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072574-2C85-7E55-3E3E-EF96761BCB99}"/>
              </a:ext>
            </a:extLst>
          </p:cNvPr>
          <p:cNvGraphicFramePr>
            <a:graphicFrameLocks noGrp="1"/>
          </p:cNvGraphicFramePr>
          <p:nvPr/>
        </p:nvGraphicFramePr>
        <p:xfrm>
          <a:off x="237744" y="2308497"/>
          <a:ext cx="5047867" cy="344752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87552">
                  <a:extLst>
                    <a:ext uri="{9D8B030D-6E8A-4147-A177-3AD203B41FA5}">
                      <a16:colId xmlns:a16="http://schemas.microsoft.com/office/drawing/2014/main" val="428209164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422310448"/>
                    </a:ext>
                  </a:extLst>
                </a:gridCol>
                <a:gridCol w="868866">
                  <a:extLst>
                    <a:ext uri="{9D8B030D-6E8A-4147-A177-3AD203B41FA5}">
                      <a16:colId xmlns:a16="http://schemas.microsoft.com/office/drawing/2014/main" val="314454884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872554432"/>
                    </a:ext>
                  </a:extLst>
                </a:gridCol>
                <a:gridCol w="1033465">
                  <a:extLst>
                    <a:ext uri="{9D8B030D-6E8A-4147-A177-3AD203B41FA5}">
                      <a16:colId xmlns:a16="http://schemas.microsoft.com/office/drawing/2014/main" val="4276547184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customer_id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customer_name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46206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4"/>
                        </a:rPr>
                        <a:t>rahul@gmail.com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0518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5"/>
                        </a:rPr>
                        <a:t>priya@gmail.com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9000022222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417755"/>
                  </a:ext>
                </a:extLst>
              </a:tr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6"/>
                        </a:rPr>
                        <a:t>amit@gmail.com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9000033333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2258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7"/>
                        </a:rPr>
                        <a:t>sneha@gmail.com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9000044444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8436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8"/>
                        </a:rPr>
                        <a:t>karan@gmail.com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9000055555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58858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9"/>
                        </a:rPr>
                        <a:t>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9000066666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1707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Vikas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0"/>
                        </a:rPr>
                        <a:t>vikas@gmail.com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9000077777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027525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Anjali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1"/>
                        </a:rPr>
                        <a:t>anjali@gmail.com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9000088888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020801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2"/>
                        </a:rPr>
                        <a:t>rohit@gmail.com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9000099999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06133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3"/>
                        </a:rPr>
                        <a:t>meera@gmail.com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9000012121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9419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2B5B3E-020A-D0FE-1DE8-000B17D6AB27}"/>
              </a:ext>
            </a:extLst>
          </p:cNvPr>
          <p:cNvGraphicFramePr>
            <a:graphicFrameLocks noGrp="1"/>
          </p:cNvGraphicFramePr>
          <p:nvPr/>
        </p:nvGraphicFramePr>
        <p:xfrm>
          <a:off x="6007608" y="1622497"/>
          <a:ext cx="5526024" cy="435133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21004">
                  <a:extLst>
                    <a:ext uri="{9D8B030D-6E8A-4147-A177-3AD203B41FA5}">
                      <a16:colId xmlns:a16="http://schemas.microsoft.com/office/drawing/2014/main" val="110905178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4185027422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3464430332"/>
                    </a:ext>
                  </a:extLst>
                </a:gridCol>
                <a:gridCol w="976884">
                  <a:extLst>
                    <a:ext uri="{9D8B030D-6E8A-4147-A177-3AD203B41FA5}">
                      <a16:colId xmlns:a16="http://schemas.microsoft.com/office/drawing/2014/main" val="1000129026"/>
                    </a:ext>
                  </a:extLst>
                </a:gridCol>
                <a:gridCol w="865124">
                  <a:extLst>
                    <a:ext uri="{9D8B030D-6E8A-4147-A177-3AD203B41FA5}">
                      <a16:colId xmlns:a16="http://schemas.microsoft.com/office/drawing/2014/main" val="422111774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1049067606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customer_id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product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quantity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sales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2929095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Laptop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5623640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Mouse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761998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Keyboard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873678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Monitor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12940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Tablet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5906104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Mobile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18000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2561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Charger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46872616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Headphones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4575133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Camera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917582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Printer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1023087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124843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9577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SSD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589415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943738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5673AA-B649-DD15-DD7F-C813158FB082}"/>
              </a:ext>
            </a:extLst>
          </p:cNvPr>
          <p:cNvSpPr txBox="1"/>
          <p:nvPr/>
        </p:nvSpPr>
        <p:spPr>
          <a:xfrm>
            <a:off x="904877" y="1876406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LEFT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D48E5-26C9-AE09-10B5-8C8E863D7775}"/>
              </a:ext>
            </a:extLst>
          </p:cNvPr>
          <p:cNvSpPr txBox="1"/>
          <p:nvPr/>
        </p:nvSpPr>
        <p:spPr>
          <a:xfrm>
            <a:off x="7114031" y="1248886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RIGHT TABLE</a:t>
            </a:r>
          </a:p>
        </p:txBody>
      </p:sp>
    </p:spTree>
    <p:extLst>
      <p:ext uri="{BB962C8B-B14F-4D97-AF65-F5344CB8AC3E}">
        <p14:creationId xmlns:p14="http://schemas.microsoft.com/office/powerpoint/2010/main" val="344252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F30ED-30BB-078C-43EF-8DBDC460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2EBAE1-2CCE-04DD-FD40-7C899876D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63FA08-45C9-8E37-CFC7-A8996373213E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E8BDE-9270-960A-1B73-CC6BF5D91897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Right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B28D53-6FBF-8662-48CB-89F5943CABED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6B456057-42A3-11B3-6EFF-1DDC9D93A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A3FCBD-BE4F-12D8-10E0-2B195ACD2377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2055AB-9183-D6AA-6CA9-7124C441D597}"/>
              </a:ext>
            </a:extLst>
          </p:cNvPr>
          <p:cNvGraphicFramePr>
            <a:graphicFrameLocks noGrp="1"/>
          </p:cNvGraphicFramePr>
          <p:nvPr/>
        </p:nvGraphicFramePr>
        <p:xfrm>
          <a:off x="6726662" y="2161203"/>
          <a:ext cx="5047867" cy="344752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87552">
                  <a:extLst>
                    <a:ext uri="{9D8B030D-6E8A-4147-A177-3AD203B41FA5}">
                      <a16:colId xmlns:a16="http://schemas.microsoft.com/office/drawing/2014/main" val="428209164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422310448"/>
                    </a:ext>
                  </a:extLst>
                </a:gridCol>
                <a:gridCol w="868866">
                  <a:extLst>
                    <a:ext uri="{9D8B030D-6E8A-4147-A177-3AD203B41FA5}">
                      <a16:colId xmlns:a16="http://schemas.microsoft.com/office/drawing/2014/main" val="314454884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872554432"/>
                    </a:ext>
                  </a:extLst>
                </a:gridCol>
                <a:gridCol w="1033465">
                  <a:extLst>
                    <a:ext uri="{9D8B030D-6E8A-4147-A177-3AD203B41FA5}">
                      <a16:colId xmlns:a16="http://schemas.microsoft.com/office/drawing/2014/main" val="4276547184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customer_id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customer_name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46206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4"/>
                        </a:rPr>
                        <a:t>rahul@gmail.com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0518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5"/>
                        </a:rPr>
                        <a:t>priya@gmail.com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9000022222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417755"/>
                  </a:ext>
                </a:extLst>
              </a:tr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6"/>
                        </a:rPr>
                        <a:t>amit@gmail.com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9000033333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2258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7"/>
                        </a:rPr>
                        <a:t>sneha@gmail.com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9000044444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8436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8"/>
                        </a:rPr>
                        <a:t>karan@gmail.com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9000055555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58858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9"/>
                        </a:rPr>
                        <a:t>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9000066666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1707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Vikas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0"/>
                        </a:rPr>
                        <a:t>vikas@gmail.com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9000077777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027525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Anjali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1"/>
                        </a:rPr>
                        <a:t>anjali@gmail.com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9000088888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020801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2"/>
                        </a:rPr>
                        <a:t>rohit@gmail.com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9000099999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06133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3"/>
                        </a:rPr>
                        <a:t>meera@gmail.com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9000012121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9419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2869AD-56DC-5B2B-2161-A26F5342D424}"/>
              </a:ext>
            </a:extLst>
          </p:cNvPr>
          <p:cNvGraphicFramePr>
            <a:graphicFrameLocks noGrp="1"/>
          </p:cNvGraphicFramePr>
          <p:nvPr/>
        </p:nvGraphicFramePr>
        <p:xfrm>
          <a:off x="420624" y="1709296"/>
          <a:ext cx="5526024" cy="435133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21004">
                  <a:extLst>
                    <a:ext uri="{9D8B030D-6E8A-4147-A177-3AD203B41FA5}">
                      <a16:colId xmlns:a16="http://schemas.microsoft.com/office/drawing/2014/main" val="110905178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4185027422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3464430332"/>
                    </a:ext>
                  </a:extLst>
                </a:gridCol>
                <a:gridCol w="976884">
                  <a:extLst>
                    <a:ext uri="{9D8B030D-6E8A-4147-A177-3AD203B41FA5}">
                      <a16:colId xmlns:a16="http://schemas.microsoft.com/office/drawing/2014/main" val="1000129026"/>
                    </a:ext>
                  </a:extLst>
                </a:gridCol>
                <a:gridCol w="865124">
                  <a:extLst>
                    <a:ext uri="{9D8B030D-6E8A-4147-A177-3AD203B41FA5}">
                      <a16:colId xmlns:a16="http://schemas.microsoft.com/office/drawing/2014/main" val="422111774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1049067606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customer_id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product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quantity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sales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2929095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Laptop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5623640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Mouse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761998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Keyboard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873678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Monitor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12940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Tablet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5906104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Mobile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18000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2561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Charger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46872616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Headphones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4575133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Camera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917582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Printer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1023087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124843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9577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SSD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589415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943738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B716D7-B6BE-4582-E9E3-EEA5FC6E47FC}"/>
              </a:ext>
            </a:extLst>
          </p:cNvPr>
          <p:cNvSpPr txBox="1"/>
          <p:nvPr/>
        </p:nvSpPr>
        <p:spPr>
          <a:xfrm>
            <a:off x="1330342" y="1348883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LEFT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D6CF0-6F24-E5FC-C0D3-BD0B886014E0}"/>
              </a:ext>
            </a:extLst>
          </p:cNvPr>
          <p:cNvSpPr txBox="1"/>
          <p:nvPr/>
        </p:nvSpPr>
        <p:spPr>
          <a:xfrm>
            <a:off x="7594006" y="1709296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RIGHT TABLE</a:t>
            </a:r>
          </a:p>
        </p:txBody>
      </p:sp>
    </p:spTree>
    <p:extLst>
      <p:ext uri="{BB962C8B-B14F-4D97-AF65-F5344CB8AC3E}">
        <p14:creationId xmlns:p14="http://schemas.microsoft.com/office/powerpoint/2010/main" val="256228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F5E8B-B61D-069C-C4CB-52C700C18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C6FB9D-ABB1-F531-2713-FFC5EA5AB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72C4EE-086E-01AB-7D36-44F19AEE6CF9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98C52-7285-B8BC-212C-544054377B9D}"/>
              </a:ext>
            </a:extLst>
          </p:cNvPr>
          <p:cNvSpPr txBox="1"/>
          <p:nvPr/>
        </p:nvSpPr>
        <p:spPr>
          <a:xfrm>
            <a:off x="237744" y="848360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Full Outer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929BF1-38A3-D5BD-8B7D-F7AB97E53974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3383BFC3-435D-3E21-140C-6AD383276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A4050A-C758-0963-9EAE-81B60CC9F5CD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312CBC-E929-6053-67AC-7311BF3D1F46}"/>
              </a:ext>
            </a:extLst>
          </p:cNvPr>
          <p:cNvSpPr txBox="1"/>
          <p:nvPr/>
        </p:nvSpPr>
        <p:spPr>
          <a:xfrm>
            <a:off x="109990" y="1612977"/>
            <a:ext cx="795501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FULL OUTER JOIN</a:t>
            </a:r>
            <a:r>
              <a:rPr lang="en-US" dirty="0">
                <a:solidFill>
                  <a:schemeClr val="bg1"/>
                </a:solidFill>
              </a:rPr>
              <a:t> returns </a:t>
            </a:r>
            <a:r>
              <a:rPr lang="en-US" b="1" dirty="0">
                <a:solidFill>
                  <a:schemeClr val="bg1"/>
                </a:solidFill>
              </a:rPr>
              <a:t>all records from both tables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LEFT JOIN + RIGHT JOIN combined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Simple words: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i="1" dirty="0">
                <a:solidFill>
                  <a:srgbClr val="FFFF00"/>
                </a:solidFill>
              </a:rPr>
              <a:t>If a match exists → show combined data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i="1" dirty="0">
                <a:solidFill>
                  <a:srgbClr val="FFFF00"/>
                </a:solidFill>
              </a:rPr>
              <a:t>If no match → show NULL for the missing side</a:t>
            </a:r>
            <a:endParaRPr lang="en-US" b="1" i="1" dirty="0">
              <a:solidFill>
                <a:srgbClr val="FFFF00"/>
              </a:solidFill>
            </a:endParaRPr>
          </a:p>
          <a:p>
            <a:pPr lvl="2"/>
            <a:endParaRPr lang="en-US" sz="1600" i="1" dirty="0">
              <a:solidFill>
                <a:srgbClr val="00B0F0"/>
              </a:solidFill>
            </a:endParaRPr>
          </a:p>
          <a:p>
            <a:pPr lvl="2"/>
            <a:endParaRPr lang="en-US" sz="1600" i="1" dirty="0">
              <a:solidFill>
                <a:srgbClr val="00B0F0"/>
              </a:solidFill>
            </a:endParaRP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SELECT columns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FROM table1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FULL OUTER JOIN table2</a:t>
            </a:r>
          </a:p>
          <a:p>
            <a:pPr lvl="2"/>
            <a:r>
              <a:rPr lang="en-US" sz="1600" i="1" dirty="0">
                <a:solidFill>
                  <a:srgbClr val="00B0F0"/>
                </a:solidFill>
              </a:rPr>
              <a:t>ON table1.common_column = table2.common_column;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23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A886C-735B-77F0-96D0-D7B37207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006F89-7F17-8947-70D6-58B6C4621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50" y="111113"/>
            <a:ext cx="667133" cy="66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272C47-896F-394E-497A-EE37D5397AF2}"/>
              </a:ext>
            </a:extLst>
          </p:cNvPr>
          <p:cNvSpPr txBox="1"/>
          <p:nvPr/>
        </p:nvSpPr>
        <p:spPr>
          <a:xfrm>
            <a:off x="2941403" y="36041"/>
            <a:ext cx="630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lgerian" panose="04020705040A02060702" pitchFamily="82" charset="0"/>
              </a:rPr>
              <a:t>SQL COMPLETE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99582-199D-2C3B-4BC4-2634F2273416}"/>
              </a:ext>
            </a:extLst>
          </p:cNvPr>
          <p:cNvSpPr txBox="1"/>
          <p:nvPr/>
        </p:nvSpPr>
        <p:spPr>
          <a:xfrm>
            <a:off x="237744" y="793953"/>
            <a:ext cx="509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Full Outer 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0A96D-C8AE-EE52-FBAA-5DB926D96575}"/>
              </a:ext>
            </a:extLst>
          </p:cNvPr>
          <p:cNvSpPr txBox="1"/>
          <p:nvPr/>
        </p:nvSpPr>
        <p:spPr>
          <a:xfrm>
            <a:off x="192215" y="6406907"/>
            <a:ext cx="1180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Instructor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– Swapnjeet S | </a:t>
            </a:r>
            <a:r>
              <a:rPr lang="en-US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Lead Data Analyst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(11+ Yrs of Exp) |</a:t>
            </a: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Data Tutorials (220K+ YT Subscribers)</a:t>
            </a:r>
          </a:p>
        </p:txBody>
      </p:sp>
      <p:pic>
        <p:nvPicPr>
          <p:cNvPr id="2050" name="Picture 2" descr="Office database - Free Icon PNG, SVG">
            <a:extLst>
              <a:ext uri="{FF2B5EF4-FFF2-40B4-BE49-F238E27FC236}">
                <a16:creationId xmlns:a16="http://schemas.microsoft.com/office/drawing/2014/main" id="{4DD187D3-4E45-4778-5FD3-7A689AC83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111113"/>
            <a:ext cx="667133" cy="6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7850B-AF9A-765C-148D-845C9B4D08FB}"/>
              </a:ext>
            </a:extLst>
          </p:cNvPr>
          <p:cNvCxnSpPr>
            <a:cxnSpLocks/>
          </p:cNvCxnSpPr>
          <p:nvPr/>
        </p:nvCxnSpPr>
        <p:spPr>
          <a:xfrm>
            <a:off x="0" y="63367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B0A8E9-7E4A-C42C-44A3-807DBF143B36}"/>
              </a:ext>
            </a:extLst>
          </p:cNvPr>
          <p:cNvGraphicFramePr>
            <a:graphicFrameLocks noGrp="1"/>
          </p:cNvGraphicFramePr>
          <p:nvPr/>
        </p:nvGraphicFramePr>
        <p:xfrm>
          <a:off x="6726662" y="2161203"/>
          <a:ext cx="5047867" cy="344752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87552">
                  <a:extLst>
                    <a:ext uri="{9D8B030D-6E8A-4147-A177-3AD203B41FA5}">
                      <a16:colId xmlns:a16="http://schemas.microsoft.com/office/drawing/2014/main" val="4282091647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422310448"/>
                    </a:ext>
                  </a:extLst>
                </a:gridCol>
                <a:gridCol w="868866">
                  <a:extLst>
                    <a:ext uri="{9D8B030D-6E8A-4147-A177-3AD203B41FA5}">
                      <a16:colId xmlns:a16="http://schemas.microsoft.com/office/drawing/2014/main" val="314454884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872554432"/>
                    </a:ext>
                  </a:extLst>
                </a:gridCol>
                <a:gridCol w="1033465">
                  <a:extLst>
                    <a:ext uri="{9D8B030D-6E8A-4147-A177-3AD203B41FA5}">
                      <a16:colId xmlns:a16="http://schemas.microsoft.com/office/drawing/2014/main" val="4276547184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customer_id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customer_name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46206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4"/>
                        </a:rPr>
                        <a:t>rahul@gmail.com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05184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5"/>
                        </a:rPr>
                        <a:t>priya@gmail.com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9000022222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417755"/>
                  </a:ext>
                </a:extLst>
              </a:tr>
              <a:tr h="180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6"/>
                        </a:rPr>
                        <a:t>amit@gmail.com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9000033333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2258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7"/>
                        </a:rPr>
                        <a:t>sneha@gmail.com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9000044444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8436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8"/>
                        </a:rPr>
                        <a:t>karan@gmail.com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9000055555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758858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9"/>
                        </a:rPr>
                        <a:t>neha@gmail.com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9000066666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170707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Vikas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Hyderabad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0"/>
                        </a:rPr>
                        <a:t>vikas@gmail.com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9000077777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027525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Anjali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Bangalore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1"/>
                        </a:rPr>
                        <a:t>anjali@gmail.com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9000088888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020801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2"/>
                        </a:rPr>
                        <a:t>rohit@gmail.com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9000099999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06133"/>
                  </a:ext>
                </a:extLst>
              </a:tr>
              <a:tr h="30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Pune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13"/>
                        </a:rPr>
                        <a:t>meera@gmail.com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9000012121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9419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6C5FF58-2DBF-DEA5-F43A-997788BEC216}"/>
              </a:ext>
            </a:extLst>
          </p:cNvPr>
          <p:cNvGraphicFramePr>
            <a:graphicFrameLocks noGrp="1"/>
          </p:cNvGraphicFramePr>
          <p:nvPr/>
        </p:nvGraphicFramePr>
        <p:xfrm>
          <a:off x="420624" y="1709296"/>
          <a:ext cx="5526024" cy="435133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21004">
                  <a:extLst>
                    <a:ext uri="{9D8B030D-6E8A-4147-A177-3AD203B41FA5}">
                      <a16:colId xmlns:a16="http://schemas.microsoft.com/office/drawing/2014/main" val="110905178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4185027422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3464430332"/>
                    </a:ext>
                  </a:extLst>
                </a:gridCol>
                <a:gridCol w="976884">
                  <a:extLst>
                    <a:ext uri="{9D8B030D-6E8A-4147-A177-3AD203B41FA5}">
                      <a16:colId xmlns:a16="http://schemas.microsoft.com/office/drawing/2014/main" val="1000129026"/>
                    </a:ext>
                  </a:extLst>
                </a:gridCol>
                <a:gridCol w="865124">
                  <a:extLst>
                    <a:ext uri="{9D8B030D-6E8A-4147-A177-3AD203B41FA5}">
                      <a16:colId xmlns:a16="http://schemas.microsoft.com/office/drawing/2014/main" val="422111774"/>
                    </a:ext>
                  </a:extLst>
                </a:gridCol>
                <a:gridCol w="921004">
                  <a:extLst>
                    <a:ext uri="{9D8B030D-6E8A-4147-A177-3AD203B41FA5}">
                      <a16:colId xmlns:a16="http://schemas.microsoft.com/office/drawing/2014/main" val="1049067606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customer_id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order_date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product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quantity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sales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2929095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Laptop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5623640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Mouse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761998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Keyboard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873678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Monitor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12940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Tablet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5906104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Mobile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18000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2561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Charger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46872616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Headphones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2500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4575133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2025-01-18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Camera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917582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Printer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1023087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Desk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124843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Fan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9577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SSD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589415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5014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2025-01-27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6000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943738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DC5347-F237-9969-EF95-6190DF2D39ED}"/>
              </a:ext>
            </a:extLst>
          </p:cNvPr>
          <p:cNvSpPr txBox="1"/>
          <p:nvPr/>
        </p:nvSpPr>
        <p:spPr>
          <a:xfrm>
            <a:off x="1330342" y="1348883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LEFT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AF5E5-828A-4B47-7792-A1A6599E47AB}"/>
              </a:ext>
            </a:extLst>
          </p:cNvPr>
          <p:cNvSpPr txBox="1"/>
          <p:nvPr/>
        </p:nvSpPr>
        <p:spPr>
          <a:xfrm>
            <a:off x="7594006" y="1709296"/>
            <a:ext cx="3313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RIGHT TABLE</a:t>
            </a:r>
          </a:p>
        </p:txBody>
      </p:sp>
    </p:spTree>
    <p:extLst>
      <p:ext uri="{BB962C8B-B14F-4D97-AF65-F5344CB8AC3E}">
        <p14:creationId xmlns:p14="http://schemas.microsoft.com/office/powerpoint/2010/main" val="186756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1888</Words>
  <Application>Microsoft Office PowerPoint</Application>
  <PresentationFormat>Widescreen</PresentationFormat>
  <Paragraphs>965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Arial</vt:lpstr>
      <vt:lpstr>Arial Rounded MT 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Swapnjeet S</dc:creator>
  <cp:lastModifiedBy>Swapnjeet S</cp:lastModifiedBy>
  <cp:revision>28</cp:revision>
  <dcterms:created xsi:type="dcterms:W3CDTF">2026-02-06T05:41:45Z</dcterms:created>
  <dcterms:modified xsi:type="dcterms:W3CDTF">2026-02-12T06:12:55Z</dcterms:modified>
</cp:coreProperties>
</file>